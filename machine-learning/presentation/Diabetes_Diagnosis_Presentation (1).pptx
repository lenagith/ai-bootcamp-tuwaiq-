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diagnosed_diabetes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C7DEDB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Diagnosed (1)</c:v>
                </c:pt>
                <c:pt idx="1">
                  <c:v>Not Diagnosed (0)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2B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target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HbA1c</c:v>
                  </c:pt>
                  <c:pt idx="1">
                    <c:v>Glucose (post-meal)</c:v>
                  </c:pt>
                  <c:pt idx="2">
                    <c:v>Glucose (fasting)</c:v>
                  </c:pt>
                  <c:pt idx="3">
                    <c:v>Diabetes risk score</c:v>
                  </c:pt>
                  <c:pt idx="4">
                    <c:v>Family history</c:v>
                  </c:pt>
                  <c:pt idx="5">
                    <c:v>Age</c:v>
                  </c:pt>
                  <c:pt idx="6">
                    <c:v>BMI</c:v>
                  </c:pt>
                  <c:pt idx="7">
                    <c:v>Systolic BP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0.68</c:v>
                </c:pt>
                <c:pt idx="1">
                  <c:v>0.63</c:v>
                </c:pt>
                <c:pt idx="2">
                  <c:v>0.51</c:v>
                </c:pt>
                <c:pt idx="3">
                  <c:v>0.28</c:v>
                </c:pt>
                <c:pt idx="4">
                  <c:v>0.2</c:v>
                </c:pt>
                <c:pt idx="5">
                  <c:v>0.14</c:v>
                </c:pt>
                <c:pt idx="6">
                  <c:v>0.1</c:v>
                </c:pt>
                <c:pt idx="7">
                  <c:v>0.1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C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C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"/>
        </c:scaling>
        <c:delete val="0"/>
        <c:axPos val="b"/>
        <c:majorGridlines>
          <c:spPr>
            <a:ln w="12700" cap="flat">
              <a:solidFill>
                <a:srgbClr val="E2EB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F1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Gradient
Boosting</c:v>
                  </c:pt>
                  <c:pt idx="1">
                    <c:v>Random
Forest</c:v>
                  </c:pt>
                  <c:pt idx="2">
                    <c:v>Decision
Tree</c:v>
                  </c:pt>
                  <c:pt idx="3">
                    <c:v>Logistic
Regression</c:v>
                  </c:pt>
                  <c:pt idx="4">
                    <c:v>KNN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0.93</c:v>
                </c:pt>
                <c:pt idx="1">
                  <c:v>0.93</c:v>
                </c:pt>
                <c:pt idx="2">
                  <c:v>0.929</c:v>
                </c:pt>
                <c:pt idx="3">
                  <c:v>0.884</c:v>
                </c:pt>
                <c:pt idx="4">
                  <c:v>0.873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C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8"/>
        </c:scaling>
        <c:delete val="0"/>
        <c:axPos val="l"/>
        <c:majorGridlines>
          <c:spPr>
            <a:ln w="12700" cap="flat">
              <a:solidFill>
                <a:srgbClr val="E2EB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F1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KNN</c:v>
                  </c:pt>
                  <c:pt idx="2">
                    <c:v>Decision
Tree</c:v>
                  </c:pt>
                  <c:pt idx="3">
                    <c:v>Random
Forest</c:v>
                  </c:pt>
                  <c:pt idx="4">
                    <c:v>Gradient
Boosting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0.885</c:v>
                </c:pt>
                <c:pt idx="1">
                  <c:v>0.886</c:v>
                </c:pt>
                <c:pt idx="2">
                  <c:v>0.932</c:v>
                </c:pt>
                <c:pt idx="3">
                  <c:v>0.931</c:v>
                </c:pt>
                <c:pt idx="4">
                  <c:v>0.93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F1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KNN</c:v>
                  </c:pt>
                  <c:pt idx="2">
                    <c:v>Decision
Tree</c:v>
                  </c:pt>
                  <c:pt idx="3">
                    <c:v>Random
Forest</c:v>
                  </c:pt>
                  <c:pt idx="4">
                    <c:v>Gradient
Boosting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0.884</c:v>
                </c:pt>
                <c:pt idx="1">
                  <c:v>0.866</c:v>
                </c:pt>
                <c:pt idx="2">
                  <c:v>0.929</c:v>
                </c:pt>
                <c:pt idx="3">
                  <c:v>0.93</c:v>
                </c:pt>
                <c:pt idx="4">
                  <c:v>0.93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8"/>
        </c:scaling>
        <c:delete val="0"/>
        <c:axPos val="l"/>
        <c:majorGridlines>
          <c:spPr>
            <a:ln w="12700" cap="flat">
              <a:solidFill>
                <a:srgbClr val="E2EB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C2B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HbA1c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C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False Negatives
(missed)</c:v>
                  </c:pt>
                  <c:pt idx="1">
                    <c:v>Correctly Caught
Positives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5.81</c:v>
                </c:pt>
                <c:pt idx="1">
                  <c:v>7.08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1C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12700" cap="flat">
              <a:solidFill>
                <a:srgbClr val="E2EB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Accuracy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Original
(50 features)</c:v>
                  </c:pt>
                  <c:pt idx="1">
                    <c:v>PCA
(28 components)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0.9215</c:v>
                </c:pt>
                <c:pt idx="1">
                  <c:v>0.8598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FEA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75"/>
        </c:scaling>
        <c:delete val="0"/>
        <c:axPos val="l"/>
        <c:majorGridlines>
          <c:spPr>
            <a:ln w="12700" cap="flat">
              <a:solidFill>
                <a:srgbClr val="1C5F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FEA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23B3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  ·   HEALTHCARE ML   ·   CAPSTONE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Diabetes Diagnosis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FEA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Lifestyle and Clinical Screening Data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routine screening data — demographics, lifestyle habits, and basic clinical measurements — flag who is likely to have diabetes, before a formal diagnostic workup?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5074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5596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5074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46120" y="5596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5074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760720" y="5596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5074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75320" y="5596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is frequently under-diagnosed until complications appear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309360" cy="4480560"/>
          </a:xfrm>
          <a:prstGeom prst="roundRect">
            <a:avLst>
              <a:gd name="adj" fmla="val 2041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that flags high-risk individuals from routine screening data — the kind collected in an annual check-up — to support earlier referral for formal diagnostic testing.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triage / pre-screening aid — not a replacement for clinical diagnosis.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34640" y="39502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5445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34640" y="451713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diagnosed_diabetes  (1 = diagnosed, 0 = not)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51114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ANALYSIS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34640" y="508406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individual per row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56784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LOOKS LIKE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34640" y="56509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on the positive class — catching true cases matters more than avoiding a false alarm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691640"/>
            <a:ext cx="4370832" cy="4480560"/>
          </a:xfrm>
          <a:prstGeom prst="roundRect">
            <a:avLst>
              <a:gd name="adj" fmla="val 2092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Machine Learning?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0" y="26517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249631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clinical cutoff separates the classes once demographic and lifestyle factors are mixed 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35661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341071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weak signals can be combined into one risk estimate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44805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432511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be re-evaluated as new screening data arrives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individuals — demographic, lifestyle, and clinical screening measurements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1051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404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2F7F6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81051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429000" y="2404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2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1051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/ 40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217920" y="2404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Split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2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181051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006840" y="2404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Feature Groups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6850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&amp; Lifestyle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39959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ethnicity, education, income, employment, smoking, alcohol, activity, diet, sleep, screen time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40080" y="463600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36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617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&amp; Family Risk History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25880" y="4928616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of diabetes, hypertension history, cardiovascular history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40080" y="5568696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568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55504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Measurements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25880" y="5861304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waist-to-hip ratio, blood pressure, cholesterol panel, glucose (fasting &amp; post-meal), insulin, HbA1c, risk score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223760" y="3246120"/>
            <a:ext cx="4343400" cy="3246120"/>
          </a:xfrm>
          <a:prstGeom prst="roundRect">
            <a:avLst>
              <a:gd name="adj" fmla="val 2817"/>
            </a:avLst>
          </a:prstGeom>
          <a:solidFill>
            <a:srgbClr val="F2F7F6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</a:t>
            </a:r>
            <a:endParaRPr lang="en-US" sz="13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7360920" y="3749040"/>
          <a:ext cx="40233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Cleaning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dataset — but two decisions still mattered a great deal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1051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3591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169164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2F7F6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81051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80560" y="23591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21040" y="169164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2F7F6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81051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21040" y="23591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BP Rows Dropped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5349240" cy="3063240"/>
          </a:xfrm>
          <a:prstGeom prst="roundRect">
            <a:avLst>
              <a:gd name="adj" fmla="val 2985"/>
            </a:avLst>
          </a:prstGeom>
          <a:solidFill>
            <a:srgbClr val="F2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91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 Value Check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systolic_bp ≤ diastolic_bp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physiologically impossible — systolic pressure is always higher in a living person.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4348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rows (0.15%) affected — dropped as unambiguous data-entry errors. No safe way to correct a swapped pair, and the fraction is too small to bias the class balance.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9632" y="3108960"/>
            <a:ext cx="5349240" cy="3063240"/>
          </a:xfrm>
          <a:prstGeom prst="roundRect">
            <a:avLst>
              <a:gd name="adj" fmla="val 2985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3291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Check: diabetes_stage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73952" y="37490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Pre-Diabetes →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maps to class 0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→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maps to class 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73952" y="45720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column restates the diagnosis itself. Keeping it would give near-perfect validation scores that collapse in real use — the clinical stage doesn't exist yet when a screening prediction is actually needed. Dropped from the feature set entirely.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Predicts a Diagnosis?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each feature with diagnosed_diabetes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794760" cy="4480560"/>
          </a:xfrm>
          <a:prstGeom prst="roundRect">
            <a:avLst>
              <a:gd name="adj" fmla="val 2410"/>
            </a:avLst>
          </a:prstGeom>
          <a:solidFill>
            <a:srgbClr val="F2F7F6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8105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ranking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046720" y="226771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8275320" y="212140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features are the actual clinical diagnostic criteria for diabetes — expected, and a good sanity check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46720" y="320954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8275320" y="30632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diabetes_risk_score correlates only moderately (0.28) — not a leaked copy of the target, kept as a legitimate feature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46720" y="415137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8275320" y="400507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self-reports (diet, sleep, screen time) show near-zero correlation individually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46720" y="509320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8275320" y="4946904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dangerous multicollinearity found among features (outside the glucose/HbA1c cluster itself)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Model-Ready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fit on the training set only — no leakage into validation or test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1714500" y="22860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train / 20% val / 20% test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on the target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918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93592" y="20116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6572" y="22860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6572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30752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+ Scale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30752" y="3520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for categoricals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numerics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53912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55664" y="20116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438644" y="2286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438644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92824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Filter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92824" y="3520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near-constant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columns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15984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317736" y="20116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00716" y="22860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10300716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54896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454896" y="3520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Transform-only on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/ test sets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4709160"/>
            <a:ext cx="1069848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features → 20 numeric (scaled) + 30 one-hot categorical columns after encoding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5349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safeguards against leakage: the train/val/test split happens before any preprocessing is fit, and every transformer (encoder, scaler, variance filter) is fit on the training set only.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Models, Four Families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instance-based, single-tree, and two ensemble approaches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1298448" y="2103120"/>
            <a:ext cx="768096" cy="7680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21031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365760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657600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baseline — sets the floor every other model must beat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43784" y="182880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F2F7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502152" y="2103120"/>
            <a:ext cx="768096" cy="7680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3502152" y="21031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53512" y="306324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63824" y="365760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63824" y="3657600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80944" y="411480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assumption about decision boundary shape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47488" y="182880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F2F7F6"/>
          </a:solidFill>
          <a:ln/>
        </p:spPr>
      </p:sp>
      <p:sp>
        <p:nvSpPr>
          <p:cNvPr id="19" name="Shape 17"/>
          <p:cNvSpPr/>
          <p:nvPr/>
        </p:nvSpPr>
        <p:spPr>
          <a:xfrm>
            <a:off x="5705856" y="2103120"/>
            <a:ext cx="768096" cy="7680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705856" y="21031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57216" y="306324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67528" y="365760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7528" y="3657600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84648" y="411480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interpretable; captures feature interactions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51192" y="182880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F2F7F6"/>
          </a:solidFill>
          <a:ln/>
        </p:spPr>
      </p:sp>
      <p:sp>
        <p:nvSpPr>
          <p:cNvPr id="26" name="Shape 24"/>
          <p:cNvSpPr/>
          <p:nvPr/>
        </p:nvSpPr>
        <p:spPr>
          <a:xfrm>
            <a:off x="7909560" y="2103120"/>
            <a:ext cx="768096" cy="7680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7909560" y="21031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60920" y="306324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71232" y="365760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71232" y="3657600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(bagging)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88352" y="411480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many trees to reduce variance / overfitting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54896" y="182880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F2F7F6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13264" y="2103120"/>
            <a:ext cx="768096" cy="7680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10113264" y="21031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564624" y="306324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774936" y="365760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74936" y="3657600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(boosting)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592056" y="411480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 corrects prior errors — often strongest on tabular data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answers the same 8 design questions: why chosen · linear or non-linear · needs scaling? · what it learns · how it predicts · key hyperparameters · strengths · limitations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Validation 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hyperparameter tuning (Val F1, positive class)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0408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91640"/>
            <a:ext cx="3749040" cy="4434840"/>
          </a:xfrm>
          <a:prstGeom prst="roundRect">
            <a:avLst>
              <a:gd name="adj" fmla="val 2439"/>
            </a:avLst>
          </a:prstGeom>
          <a:solidFill>
            <a:srgbClr val="F2F7F6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gap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3317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(Gradient Boosting, Random Forest, Decision Tree) are separated by less than 0.1% — not practically meaningful on their own.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092440" y="3337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a linear model to any tree-based model is what drives the real gain — not the specific choice among the top three.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92440" y="4343400"/>
            <a:ext cx="3108960" cy="0"/>
          </a:xfrm>
          <a:prstGeom prst="line">
            <a:avLst/>
          </a:prstGeom>
          <a:noFill/>
          <a:ln w="12700">
            <a:solidFill>
              <a:srgbClr val="D8E5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4526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0.934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92440" y="5074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0.946 (best)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for Overfitting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vs. Validation F1 — the gap is the evidence, not the score alone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6809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645920"/>
            <a:ext cx="3154680" cy="4434840"/>
          </a:xfrm>
          <a:prstGeom prst="roundRect">
            <a:avLst>
              <a:gd name="adj" fmla="val 2899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gap: KNN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86800" y="22860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2.4-point Accuracy gap — the largest of the five, though still moderate, not severe overfitting.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0" y="3200400"/>
            <a:ext cx="2560320" cy="0"/>
          </a:xfrm>
          <a:prstGeom prst="line">
            <a:avLst/>
          </a:prstGeom>
          <a:noFill/>
          <a:ln w="12700">
            <a:solidFill>
              <a:srgbClr val="3D8F9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gap: Gradient Boosting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0" y="39319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0.05 points after tuning — strong generalization, not just a high score.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0" y="4846320"/>
            <a:ext cx="2560320" cy="0"/>
          </a:xfrm>
          <a:prstGeom prst="line">
            <a:avLst/>
          </a:prstGeom>
          <a:noFill/>
          <a:ln w="12700">
            <a:solidFill>
              <a:srgbClr val="3D8F9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0" y="5029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(Part 11) narrowed the tree-model gaps that were wider before depth/estimator limits were applied.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Model: Gradient Boosting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— then re-tuned for the real-world cost of a missed case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Gradient Boosting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663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 F1 (0.930) and ROC-AUC (0.946), with a train-val gap no larger than its closest competitors — the edge isn't coming from overfitting.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691640"/>
            <a:ext cx="5468112" cy="2331720"/>
          </a:xfrm>
          <a:prstGeom prst="roundRect">
            <a:avLst>
              <a:gd name="adj" fmla="val 3922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Caveat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286000"/>
            <a:ext cx="4937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leads Random Forest and Decision Tree by under 0.1% F1 — not practically meaningful. Most of the gain over the Logistic Regression baseline comes from using any tree-based model, not this specific choice.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Tuning — Optimizing for Recall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screening tool, a missed diabetic case (False Negative) is costlier than a false alarm (False Positive) — so the default 0.5 cutoff isn't necessarily right.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257800"/>
          <a:ext cx="7315200" cy="1051560"/>
        </p:xfrm>
        <a:graphic>
          <a:graphicData uri="http://schemas.openxmlformats.org/drawingml/2006/table">
            <a:tbl>
              <a:tblPr/>
              <a:tblGrid>
                <a:gridCol w="2286000"/>
                <a:gridCol w="1673352"/>
                <a:gridCol w="1673352"/>
                <a:gridCol w="1682496"/>
              </a:tblGrid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A89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2B2B"/>
                          </a:solidFill>
                        </a:rPr>
                        <a:t>0.5 (default)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B"/>
                          </a:solidFill>
                        </a:rPr>
                        <a:t>1.000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B"/>
                          </a:solidFill>
                        </a:rPr>
                        <a:t>0.869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B"/>
                          </a:solidFill>
                        </a:rPr>
                        <a:t>0.930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0.2 (chosen)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0.863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0.909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0.885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8183880" y="4206240"/>
            <a:ext cx="3364992" cy="2103120"/>
          </a:xfrm>
          <a:prstGeom prst="roundRect">
            <a:avLst>
              <a:gd name="adj" fmla="val 4348"/>
            </a:avLst>
          </a:prstGeom>
          <a:solidFill>
            <a:srgbClr val="F2F7F6"/>
          </a:solidFill>
          <a:ln/>
        </p:spPr>
      </p:sp>
      <p:sp>
        <p:nvSpPr>
          <p:cNvPr id="14" name="Text 11"/>
          <p:cNvSpPr/>
          <p:nvPr/>
        </p:nvSpPr>
        <p:spPr>
          <a:xfrm>
            <a:off x="8183880" y="4389120"/>
            <a:ext cx="3364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8183880" y="5029200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decision threshold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412480" y="5394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some precision for a meaningful recall gain — fewer real cases slip through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Test Set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and only look at the test set — after model &amp; threshold were locked 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1051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85.9%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23591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7F6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81051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0.886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429000" y="23591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1051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0.945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217920" y="23591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181051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006840" y="23591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(class 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Test Set (n = 19,970)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1691640" cy="777240"/>
          </a:xfrm>
          <a:prstGeom prst="roundRect">
            <a:avLst>
              <a:gd name="adj" fmla="val 4706"/>
            </a:avLst>
          </a:prstGeom>
          <a:solidFill>
            <a:srgbClr val="F2F7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6616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377440" y="3566160"/>
            <a:ext cx="1691640" cy="777240"/>
          </a:xfrm>
          <a:prstGeom prst="roundRect">
            <a:avLst>
              <a:gd name="adj" fmla="val 4706"/>
            </a:avLst>
          </a:prstGeom>
          <a:solidFill>
            <a:srgbClr val="F2F7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356616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No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0" y="3566160"/>
            <a:ext cx="1691640" cy="777240"/>
          </a:xfrm>
          <a:prstGeom prst="roundRect">
            <a:avLst>
              <a:gd name="adj" fmla="val 4706"/>
            </a:avLst>
          </a:prstGeom>
          <a:solidFill>
            <a:srgbClr val="F2F7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356616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Yes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389120"/>
            <a:ext cx="1691640" cy="777240"/>
          </a:xfrm>
          <a:prstGeom prst="roundRect">
            <a:avLst>
              <a:gd name="adj" fmla="val 4706"/>
            </a:avLst>
          </a:prstGeom>
          <a:solidFill>
            <a:srgbClr val="F2F7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3891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No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377440" y="4389120"/>
            <a:ext cx="1691640" cy="777240"/>
          </a:xfrm>
          <a:prstGeom prst="roundRect">
            <a:avLst>
              <a:gd name="adj" fmla="val 4706"/>
            </a:avLst>
          </a:prstGeom>
          <a:solidFill>
            <a:srgbClr val="BFE3D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43891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6,221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114800" y="4389120"/>
            <a:ext cx="1691640" cy="777240"/>
          </a:xfrm>
          <a:prstGeom prst="roundRect">
            <a:avLst>
              <a:gd name="adj" fmla="val 4706"/>
            </a:avLst>
          </a:prstGeom>
          <a:solidFill>
            <a:srgbClr val="F5D5D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43891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1,767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" y="5212080"/>
            <a:ext cx="1691640" cy="777240"/>
          </a:xfrm>
          <a:prstGeom prst="roundRect">
            <a:avLst>
              <a:gd name="adj" fmla="val 4706"/>
            </a:avLst>
          </a:prstGeom>
          <a:solidFill>
            <a:srgbClr val="F2F7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2120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Yes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377440" y="5212080"/>
            <a:ext cx="1691640" cy="777240"/>
          </a:xfrm>
          <a:prstGeom prst="roundRect">
            <a:avLst>
              <a:gd name="adj" fmla="val 4706"/>
            </a:avLst>
          </a:prstGeom>
          <a:solidFill>
            <a:srgbClr val="F5D5D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52120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1,057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114800" y="5212080"/>
            <a:ext cx="1691640" cy="777240"/>
          </a:xfrm>
          <a:prstGeom prst="roundRect">
            <a:avLst>
              <a:gd name="adj" fmla="val 4706"/>
            </a:avLst>
          </a:prstGeom>
          <a:solidFill>
            <a:srgbClr val="BFE3D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52120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10,925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766560" y="3108960"/>
            <a:ext cx="4800600" cy="3063240"/>
          </a:xfrm>
          <a:prstGeom prst="roundRect">
            <a:avLst>
              <a:gd name="adj" fmla="val 2985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7040880" y="3291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40880" y="374904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1,057 False Negatives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(8.8% of true positives) — real diabetic cases the model misses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1,767 False Positives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(22.1% of true negatives) — unnecessary follow-up tests, the accepted cost of prioritizing recall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Struggles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cluster near the clinical decision boundary — not randomly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HbA1c: Missed Cases vs. Correctly Caught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0312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2848927"/>
            <a:ext cx="6492240" cy="0"/>
          </a:xfrm>
          <a:prstGeom prst="line">
            <a:avLst/>
          </a:prstGeom>
          <a:noFill/>
          <a:ln w="12700">
            <a:solidFill>
              <a:srgbClr val="5C6B6B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822960" y="2574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 — clinical HbA1c diabetes threshold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772400" y="1691640"/>
            <a:ext cx="3794760" cy="4389120"/>
          </a:xfrm>
          <a:prstGeom prst="roundRect">
            <a:avLst>
              <a:gd name="adj" fmla="val 2410"/>
            </a:avLst>
          </a:prstGeom>
          <a:solidFill>
            <a:srgbClr val="F2F7F6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46720" y="247802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8275320" y="231343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cases sit closer to the diagnostic thresholds — the model fails on borderline patients, not obvious ones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46720" y="364845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8275320" y="3483864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context, a missed case is more costly than a false alarm — the reasoning behind weighting Recall in model selection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46720" y="481888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8275320" y="4654296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Lifestyle/demographic features add limited help resolving genuinely borderline clinical cases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Classification: Clustering &amp; PCA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structure — and one technique that didn't pay off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019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 (K = 4)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 on clinical/lifestyle features only — the target was never used to build the clusters, only to interpret them afterward.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17520"/>
          <a:ext cx="4937760" cy="1737360"/>
        </p:xfrm>
        <a:graphic>
          <a:graphicData uri="http://schemas.openxmlformats.org/drawingml/2006/table">
            <a:tbl>
              <a:tblPr/>
              <a:tblGrid>
                <a:gridCol w="2834640"/>
                <a:gridCol w="100584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Diagnosed Rate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2B2B"/>
                          </a:solidFill>
                        </a:rPr>
                        <a:t>High-risk (older, high HbA1c)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2B"/>
                          </a:solidFill>
                        </a:rPr>
                        <a:t>61.5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2B"/>
                          </a:solidFill>
                        </a:rPr>
                        <a:t>93%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2B2B"/>
                          </a:solidFill>
                        </a:rPr>
                        <a:t>High-risk (younger, high HbA1c)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2B"/>
                          </a:solidFill>
                        </a:rPr>
                        <a:t>48.8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2B"/>
                          </a:solidFill>
                        </a:rPr>
                        <a:t>91%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2B2B"/>
                          </a:solidFill>
                        </a:rPr>
                        <a:t>Moderate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2B"/>
                          </a:solidFill>
                        </a:rPr>
                        <a:t>51.0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2B"/>
                          </a:solidFill>
                        </a:rPr>
                        <a:t>33%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2B2B"/>
                          </a:solidFill>
                        </a:rPr>
                        <a:t>Low-risk / active lifestyle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2B"/>
                          </a:solidFill>
                        </a:rPr>
                        <a:t>40.4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2B"/>
                          </a:solidFill>
                        </a:rPr>
                        <a:t>26%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48920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unsupervised grouping reconstructed a risk-like gradient that lines up with actual diagnosis rates — a strong sanity check on the feature set.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193792" cy="4434840"/>
          </a:xfrm>
          <a:prstGeom prst="roundRect">
            <a:avLst>
              <a:gd name="adj" fmla="val 2062"/>
            </a:avLst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6629400" y="19019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— Did It Help?</a:t>
            </a:r>
            <a:endParaRPr lang="en-US" sz="15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629400" y="2331720"/>
          <a:ext cx="47091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/>
          <p:nvPr/>
        </p:nvSpPr>
        <p:spPr>
          <a:xfrm>
            <a:off x="6629400" y="4892040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hurt performance: 28 components (95% variance) still dropped Val Accuracy by ~6 points. The target's signal is concentrated in a few high-value features (HbA1c, glucose) — exactly what variance-based compression can discard.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5669280" cy="5669280"/>
          </a:xfrm>
          <a:prstGeom prst="ellipse">
            <a:avLst/>
          </a:prstGeom>
          <a:solidFill>
            <a:srgbClr val="123B3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72768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use: a supportive triage aid for clinicians who already have lab results — not a standalone consumer screening tool that replaces lab testing.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Limitations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575304"/>
            <a:ext cx="91440" cy="91440"/>
          </a:xfrm>
          <a:prstGeom prst="ellipse">
            <a:avLst/>
          </a:prstGeom>
          <a:solidFill>
            <a:srgbClr val="9FC7C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1071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appears synthetically clean (zero missing/duplicate values) — real deployment data will likely be messier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4471416"/>
            <a:ext cx="91440" cy="91440"/>
          </a:xfrm>
          <a:prstGeom prst="ellipse">
            <a:avLst/>
          </a:prstGeom>
          <a:solidFill>
            <a:srgbClr val="9FC7C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306824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heavily on lab values (HbA1c, glucose) that require an actual blood draw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5367528"/>
            <a:ext cx="91440" cy="91440"/>
          </a:xfrm>
          <a:prstGeom prst="ellipse">
            <a:avLst/>
          </a:prstGeom>
          <a:solidFill>
            <a:srgbClr val="9FC7C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20293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validation on a separate population or cohort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09360" y="3063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3575304"/>
            <a:ext cx="91440" cy="91440"/>
          </a:xfrm>
          <a:prstGeom prst="ellipse">
            <a:avLst/>
          </a:prstGeom>
          <a:solidFill>
            <a:srgbClr val="9FC7C4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41071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lifestyle-only feature subset — the more genuinely useful pre-screening product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4471416"/>
            <a:ext cx="91440" cy="91440"/>
          </a:xfrm>
          <a:prstGeom prst="ellipse">
            <a:avLst/>
          </a:prstGeom>
          <a:solidFill>
            <a:srgbClr val="9FC7C4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4306824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k-fold cross-validation for more robust hyperparameter selection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5367528"/>
            <a:ext cx="91440" cy="91440"/>
          </a:xfrm>
          <a:prstGeom prst="ellipse">
            <a:avLst/>
          </a:prstGeom>
          <a:solidFill>
            <a:srgbClr val="9FC7C4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520293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an external, more diverse clinical population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5989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2026-08-12T23:09:40Z</dcterms:created>
  <dcterms:modified xsi:type="dcterms:W3CDTF">2026-08-12T23:09:40Z</dcterms:modified>
</cp:coreProperties>
</file>